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notesMasterIdLst>
    <p:notesMasterId r:id="rId25"/>
  </p:notesMasterIdLst>
  <p:sldIdLst>
    <p:sldId id="261" r:id="rId2"/>
    <p:sldId id="272" r:id="rId3"/>
    <p:sldId id="273" r:id="rId4"/>
    <p:sldId id="263" r:id="rId5"/>
    <p:sldId id="291" r:id="rId6"/>
    <p:sldId id="281" r:id="rId7"/>
    <p:sldId id="257" r:id="rId8"/>
    <p:sldId id="274" r:id="rId9"/>
    <p:sldId id="275" r:id="rId10"/>
    <p:sldId id="276" r:id="rId11"/>
    <p:sldId id="277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78" r:id="rId20"/>
    <p:sldId id="279" r:id="rId21"/>
    <p:sldId id="280" r:id="rId22"/>
    <p:sldId id="290" r:id="rId23"/>
    <p:sldId id="289" r:id="rId2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140" y="52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010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082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" TargetMode="Externa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14" name="그룹 13"/>
          <p:cNvGrpSpPr/>
          <p:nvPr/>
        </p:nvGrpSpPr>
        <p:grpSpPr>
          <a:xfrm>
            <a:off x="2438400" y="2400300"/>
            <a:ext cx="8839200" cy="1295400"/>
            <a:chOff x="2514600" y="2400300"/>
            <a:chExt cx="8839200" cy="1295400"/>
          </a:xfrm>
        </p:grpSpPr>
        <p:sp>
          <p:nvSpPr>
            <p:cNvPr id="5" name="TextBox 5"/>
            <p:cNvSpPr txBox="1"/>
            <p:nvPr/>
          </p:nvSpPr>
          <p:spPr>
            <a:xfrm>
              <a:off x="2514600" y="2676358"/>
              <a:ext cx="8839200" cy="1019342"/>
            </a:xfrm>
            <a:prstGeom prst="rect">
              <a:avLst/>
            </a:prstGeom>
            <a:ln>
              <a:solidFill>
                <a:schemeClr val="lt1"/>
              </a:solidFill>
            </a:ln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8064"/>
                </a:lnSpc>
                <a:defRPr/>
              </a:pPr>
              <a:r>
                <a:rPr lang="ko-KR" altLang="en-US" sz="7200" b="1" spc="-359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  게임프로그래밍 발표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590800" y="2400300"/>
              <a:ext cx="7183195" cy="304800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352"/>
                </a:lnSpc>
                <a:defRPr/>
              </a:pPr>
              <a:r>
                <a:rPr lang="ko-KR" altLang="en-US" sz="2100" b="1">
                  <a:solidFill>
                    <a:srgbClr val="737373"/>
                  </a:solidFill>
                  <a:latin typeface="Heebo Bold"/>
                  <a:ea typeface="Heebo Bold"/>
                  <a:cs typeface="Heebo Bold"/>
                  <a:sym typeface="Heebo Bold"/>
                </a:rPr>
                <a:t>     </a:t>
              </a:r>
              <a:r>
                <a:rPr lang="en-US" altLang="ko-KR" sz="2100" b="1">
                  <a:solidFill>
                    <a:srgbClr val="737373"/>
                  </a:solidFill>
                  <a:latin typeface="Heebo Bold"/>
                  <a:ea typeface="Heebo Bold"/>
                  <a:cs typeface="Heebo Bold"/>
                  <a:sym typeface="Heebo Bold"/>
                </a:rPr>
                <a:t>Game Programming Presentation</a:t>
              </a:r>
            </a:p>
          </p:txBody>
        </p:sp>
      </p:grpSp>
      <p:sp>
        <p:nvSpPr>
          <p:cNvPr id="9" name="타원 8"/>
          <p:cNvSpPr/>
          <p:nvPr/>
        </p:nvSpPr>
        <p:spPr>
          <a:xfrm>
            <a:off x="2362200" y="3771900"/>
            <a:ext cx="152400" cy="152400"/>
          </a:xfrm>
          <a:prstGeom prst="ellipse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cxnSp>
        <p:nvCxnSpPr>
          <p:cNvPr id="11" name="직선 연결선 10"/>
          <p:cNvCxnSpPr>
            <a:stCxn id="9" idx="6"/>
          </p:cNvCxnSpPr>
          <p:nvPr/>
        </p:nvCxnSpPr>
        <p:spPr>
          <a:xfrm>
            <a:off x="2514601" y="3848100"/>
            <a:ext cx="8596946" cy="0"/>
          </a:xfrm>
          <a:prstGeom prst="line">
            <a:avLst/>
          </a:prstGeom>
          <a:ln>
            <a:solidFill>
              <a:schemeClr val="dk1"/>
            </a:solidFill>
          </a:ln>
          <a:effectLst>
            <a:outerShdw blurRad="76200" dist="762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/>
          <p:cNvSpPr/>
          <p:nvPr/>
        </p:nvSpPr>
        <p:spPr>
          <a:xfrm>
            <a:off x="11049000" y="3771900"/>
            <a:ext cx="152400" cy="152400"/>
          </a:xfrm>
          <a:prstGeom prst="ellipse">
            <a:avLst/>
          </a:prstGeom>
          <a:solidFill>
            <a:schemeClr val="lt1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13" name="TextBox 10"/>
          <p:cNvSpPr txBox="1"/>
          <p:nvPr/>
        </p:nvSpPr>
        <p:spPr>
          <a:xfrm>
            <a:off x="13411200" y="9105900"/>
            <a:ext cx="4387324" cy="304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52"/>
              </a:lnSpc>
              <a:defRPr/>
            </a:pPr>
            <a:endParaRPr lang="en-US" altLang="ko-KR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2514600" y="1562100"/>
            <a:ext cx="8014955" cy="1066800"/>
            <a:chOff x="2514600" y="2476500"/>
            <a:chExt cx="8014955" cy="1066800"/>
          </a:xfrm>
        </p:grpSpPr>
        <p:sp>
          <p:nvSpPr>
            <p:cNvPr id="5" name="TextBox 5"/>
            <p:cNvSpPr txBox="1"/>
            <p:nvPr/>
          </p:nvSpPr>
          <p:spPr>
            <a:xfrm>
              <a:off x="2514600" y="2476500"/>
              <a:ext cx="8014955" cy="1019342"/>
            </a:xfrm>
            <a:prstGeom prst="rect">
              <a:avLst/>
            </a:prstGeom>
            <a:ln>
              <a:solidFill>
                <a:schemeClr val="lt1"/>
              </a:solidFill>
            </a:ln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8064"/>
                </a:lnSpc>
                <a:defRPr/>
              </a:pPr>
              <a:r>
                <a:rPr lang="ko-KR" altLang="en-US" sz="7200" b="1" spc="-359">
                  <a:solidFill>
                    <a:srgbClr val="000000"/>
                  </a:solidFill>
                  <a:latin typeface="Nanum Square Bold"/>
                  <a:ea typeface="Nanum Square Bold"/>
                  <a:cs typeface="Nanum Square Bold"/>
                  <a:sym typeface="Nanum Square Bold"/>
                </a:rPr>
                <a:t>목차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419600" y="3238500"/>
              <a:ext cx="4211394" cy="304800"/>
            </a:xfrm>
            <a:prstGeom prst="rect">
              <a:avLst/>
            </a:prstGeom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352"/>
                </a:lnSpc>
                <a:defRPr/>
              </a:pPr>
              <a:r>
                <a:rPr lang="en-US" altLang="ko-KR" sz="2800" b="1">
                  <a:solidFill>
                    <a:srgbClr val="737373"/>
                  </a:solidFill>
                  <a:latin typeface="Heebo Bold"/>
                  <a:ea typeface="Heebo Bold"/>
                  <a:cs typeface="Heebo Bold"/>
                  <a:sym typeface="Heebo Bold"/>
                </a:rPr>
                <a:t>List</a:t>
              </a:r>
            </a:p>
          </p:txBody>
        </p:sp>
      </p:grpSp>
      <p:cxnSp>
        <p:nvCxnSpPr>
          <p:cNvPr id="11" name="직선 연결선 10"/>
          <p:cNvCxnSpPr/>
          <p:nvPr/>
        </p:nvCxnSpPr>
        <p:spPr>
          <a:xfrm>
            <a:off x="2438400" y="2933699"/>
            <a:ext cx="13402620" cy="1"/>
          </a:xfrm>
          <a:prstGeom prst="line">
            <a:avLst/>
          </a:prstGeom>
          <a:ln>
            <a:solidFill>
              <a:schemeClr val="dk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2556510" y="3467100"/>
            <a:ext cx="7349490" cy="475869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01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34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팀원 소개</a:t>
            </a:r>
          </a:p>
          <a:p>
            <a:pPr algn="l">
              <a:defRPr/>
            </a:pPr>
            <a:endParaRPr lang="ko-KR" altLang="en-US" sz="3400" b="0" i="0" strike="noStrike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02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sz="3400" b="0" i="0" strike="noStrike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개발 계획</a:t>
            </a:r>
          </a:p>
          <a:p>
            <a:pPr algn="l">
              <a:defRPr/>
            </a:pPr>
            <a:endParaRPr sz="3400" b="0" i="0" strike="noStrike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03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3400" b="0" i="0" strike="noStrike">
                <a:solidFill>
                  <a:schemeClr val="dk1"/>
                </a:solidFill>
                <a:latin typeface="Arial"/>
                <a:ea typeface="굴림"/>
              </a:rPr>
              <a:t>기초 코드</a:t>
            </a:r>
          </a:p>
          <a:p>
            <a:pPr algn="l">
              <a:defRPr/>
            </a:pPr>
            <a:endParaRPr lang="ko-KR" altLang="en-US" sz="3400" b="0" i="0" strike="noStrike">
              <a:solidFill>
                <a:schemeClr val="dk1"/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04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3400" b="0" i="0" strike="noStrike">
                <a:solidFill>
                  <a:schemeClr val="dk1"/>
                </a:solidFill>
                <a:latin typeface="Arial"/>
                <a:ea typeface="굴림"/>
              </a:rPr>
              <a:t>코드 업그레이드</a:t>
            </a:r>
          </a:p>
          <a:p>
            <a:pPr algn="l">
              <a:defRPr/>
            </a:pPr>
            <a:endParaRPr lang="ko-KR" altLang="en-US" sz="3400" b="0" i="0" strike="noStrike">
              <a:solidFill>
                <a:schemeClr val="dk1"/>
              </a:solidFill>
              <a:latin typeface="Arial"/>
              <a:ea typeface="굴림"/>
            </a:endParaRPr>
          </a:p>
          <a:p>
            <a:pPr algn="l">
              <a:defRPr/>
            </a:pPr>
            <a:r>
              <a:rPr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05</a:t>
            </a:r>
            <a:r>
              <a:rPr lang="ko-KR" altLang="en-US" sz="3400" b="0" i="0" strike="noStrike">
                <a:solidFill>
                  <a:srgbClr val="7F90D4">
                    <a:alpha val="100000"/>
                  </a:srgbClr>
                </a:solidFill>
                <a:latin typeface="Arial"/>
                <a:ea typeface="굴림"/>
              </a:rPr>
              <a:t> </a:t>
            </a:r>
            <a:r>
              <a:rPr lang="ko-KR" altLang="en-US" sz="3400" b="0" i="0" strike="noStrike">
                <a:solidFill>
                  <a:schemeClr val="dk1"/>
                </a:solidFill>
                <a:latin typeface="Arial"/>
                <a:ea typeface="굴림"/>
              </a:rPr>
              <a:t>게임 시연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AutoShape 4"/>
          <p:cNvSpPr/>
          <p:nvPr/>
        </p:nvSpPr>
        <p:spPr>
          <a:xfrm flipV="1">
            <a:off x="9144000" y="4616905"/>
            <a:ext cx="0" cy="3732686"/>
          </a:xfrm>
          <a:prstGeom prst="line">
            <a:avLst/>
          </a:prstGeom>
          <a:ln w="19050" cap="flat">
            <a:solidFill>
              <a:srgbClr val="000000"/>
            </a:solidFill>
            <a:prstDash val="lgDash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0515600" y="4533900"/>
            <a:ext cx="4774256" cy="495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3872"/>
              </a:lnSpc>
              <a:defRPr/>
            </a:pP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팀원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39200" y="6134100"/>
            <a:ext cx="8153400" cy="4667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12"/>
              </a:lnSpc>
              <a:defRPr/>
            </a:pPr>
            <a:r>
              <a:rPr lang="ko-KR" altLang="en-US" sz="3600" spc="-160">
                <a:solidFill>
                  <a:srgbClr val="737373"/>
                </a:solidFill>
                <a:latin typeface="배달의민족 한나체 Pro"/>
                <a:ea typeface="배달의민족 한나체 Pro"/>
                <a:cs typeface="Nanum Square"/>
                <a:sym typeface="Nanum Square"/>
              </a:rPr>
              <a:t>최원욱	</a:t>
            </a:r>
            <a:r>
              <a:rPr lang="ko-KR" altLang="en-US" sz="3600" spc="-160">
                <a:solidFill>
                  <a:srgbClr val="737373"/>
                </a:solidFill>
                <a:effectLst/>
                <a:latin typeface="배달의민족 한나체 Pro"/>
                <a:ea typeface="배달의민족 한나체 Pro"/>
                <a:cs typeface="Nanum Square"/>
                <a:sym typeface="Nanum Square"/>
              </a:rPr>
              <a:t>박상민</a:t>
            </a:r>
            <a:r>
              <a:rPr lang="ko-KR" altLang="en-US" sz="3200" spc="-160">
                <a:solidFill>
                  <a:srgbClr val="737373"/>
                </a:solidFill>
                <a:effectLst/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ko-KR" altLang="en-US" sz="3200" b="1" spc="-160">
                <a:solidFill>
                  <a:srgbClr val="737373"/>
                </a:solidFill>
                <a:latin typeface="Nanum Square"/>
                <a:ea typeface="Nanum Square"/>
                <a:cs typeface="Nanum Square"/>
                <a:sym typeface="Nanum Square"/>
              </a:rPr>
              <a:t> </a:t>
            </a:r>
            <a:r>
              <a:rPr lang="ko-KR" altLang="en-US" sz="3200" spc="-160">
                <a:solidFill>
                  <a:srgbClr val="737373"/>
                </a:solidFill>
                <a:latin typeface="Nanum Square"/>
                <a:ea typeface="Nanum Square"/>
                <a:cs typeface="Nanum Square"/>
                <a:sym typeface="Nanum Square"/>
              </a:rPr>
              <a:t>      </a:t>
            </a:r>
            <a:r>
              <a:rPr lang="ko-KR" altLang="en-US" sz="3600" spc="-160">
                <a:solidFill>
                  <a:srgbClr val="737373"/>
                </a:solidFill>
                <a:latin typeface="배달의민족 한나체 Pro"/>
                <a:ea typeface="배달의민족 한나체 Pro"/>
                <a:cs typeface="Nanum Square"/>
                <a:sym typeface="Nanum Square"/>
              </a:rPr>
              <a:t>한세윤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78981" y="17572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팀원 소개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50337" y="1450150"/>
            <a:ext cx="4387325" cy="30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352"/>
              </a:lnSpc>
              <a:defRPr/>
            </a:pPr>
            <a:endParaRPr lang="en-US" altLang="ko-KR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71800" y="3695700"/>
            <a:ext cx="4876800" cy="5044965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17572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개발 계획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50337" y="1450150"/>
            <a:ext cx="4387325" cy="3024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Development Plan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33600" y="3238500"/>
            <a:ext cx="3276600" cy="108058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6"/>
          <p:cNvSpPr txBox="1"/>
          <p:nvPr/>
        </p:nvSpPr>
        <p:spPr>
          <a:xfrm>
            <a:off x="2133600" y="4547489"/>
            <a:ext cx="10030815" cy="9865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플래시365</a:t>
            </a:r>
            <a:r>
              <a:rPr lang="ko-KR" alt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3200" b="1" spc="-160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처럼</a:t>
            </a: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3200" b="1" spc="-160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여러</a:t>
            </a: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3200" b="1" spc="-160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미니</a:t>
            </a: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3200" b="1" spc="-160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게임을</a:t>
            </a: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한 </a:t>
            </a:r>
            <a:r>
              <a:rPr lang="en-US" sz="3200" b="1" spc="-160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곳에</a:t>
            </a: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sz="3200" b="1" spc="-160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모아</a:t>
            </a: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</a:p>
          <a:p>
            <a:pPr algn="l">
              <a:lnSpc>
                <a:spcPts val="3872"/>
              </a:lnSpc>
              <a:defRPr/>
            </a:pPr>
            <a:r>
              <a:rPr lang="en-US" sz="3200" b="1" spc="-160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제공하는</a:t>
            </a: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웹 </a:t>
            </a:r>
            <a:r>
              <a:rPr lang="en-US" sz="3200" b="1" spc="-160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플랫폼을</a:t>
            </a:r>
            <a:r>
              <a:rPr 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ko-KR" altLang="en-US" sz="3200" b="1" spc="-160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모티브 </a:t>
            </a:r>
          </a:p>
        </p:txBody>
      </p:sp>
      <p:sp>
        <p:nvSpPr>
          <p:cNvPr id="15" name="TextBox 6"/>
          <p:cNvSpPr txBox="1"/>
          <p:nvPr/>
        </p:nvSpPr>
        <p:spPr>
          <a:xfrm>
            <a:off x="2133600" y="5715000"/>
            <a:ext cx="10030815" cy="34671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기초 소스 탐색 및 개발 진행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32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Clicker 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게임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32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Fishing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게임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32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Runner</a:t>
            </a:r>
            <a:r>
              <a:rPr lang="ko-KR" altLang="en-US" sz="32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게임</a:t>
            </a:r>
          </a:p>
        </p:txBody>
      </p:sp>
      <p:pic>
        <p:nvPicPr>
          <p:cNvPr id="1026" name="Picture 2" descr="GitHub - about, prices, reviews 2025 - Netolink">
            <a:extLst>
              <a:ext uri="{FF2B5EF4-FFF2-40B4-BE49-F238E27FC236}">
                <a16:creationId xmlns:a16="http://schemas.microsoft.com/office/drawing/2014/main" id="{725A79E1-198D-6F26-6D7A-B5193535F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7648" y="346034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AC91082-1199-2A1A-BE7E-6D512923FA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6826660"/>
            <a:ext cx="9263105" cy="2736440"/>
          </a:xfrm>
          <a:prstGeom prst="rect">
            <a:avLst/>
          </a:prstGeom>
        </p:spPr>
      </p:pic>
      <p:pic>
        <p:nvPicPr>
          <p:cNvPr id="1028" name="Picture 4" descr="Discord - Windows에서 다운로드 및 설치 | Microsoft Store">
            <a:extLst>
              <a:ext uri="{FF2B5EF4-FFF2-40B4-BE49-F238E27FC236}">
                <a16:creationId xmlns:a16="http://schemas.microsoft.com/office/drawing/2014/main" id="{0F3A0B38-90CA-FB42-519D-C10930704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0980" y="4462462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866D2-38B9-EF3B-9706-0359CC07C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748E132-E1CB-8717-524B-F57CC8D72F78}"/>
              </a:ext>
            </a:extLst>
          </p:cNvPr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696ABE5-14C3-40A5-B2EB-403474679AD0}"/>
              </a:ext>
            </a:extLst>
          </p:cNvPr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79E52E9-7E44-49FD-CA5F-6B09D049D430}"/>
              </a:ext>
            </a:extLst>
          </p:cNvPr>
          <p:cNvSpPr txBox="1"/>
          <p:nvPr/>
        </p:nvSpPr>
        <p:spPr>
          <a:xfrm>
            <a:off x="1635693" y="1428583"/>
            <a:ext cx="11546907" cy="103874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8064"/>
              </a:lnSpc>
              <a:defRPr/>
            </a:pPr>
            <a:r>
              <a:rPr lang="ko-KR" altLang="en-US" sz="7200" b="1" spc="-359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프롬포트</a:t>
            </a:r>
            <a:r>
              <a:rPr lang="ko-KR" altLang="en-US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– </a:t>
            </a:r>
            <a:r>
              <a:rPr lang="en-US" altLang="ko-KR" sz="7200" b="1" spc="-359" dirty="0" err="1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gpt</a:t>
            </a:r>
            <a:r>
              <a:rPr lang="ko-KR" altLang="en-US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&amp; copilot</a:t>
            </a:r>
            <a:endParaRPr lang="ko-KR" altLang="en-US" sz="7200" b="1" spc="-359" dirty="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93F73ED-DF97-A54D-D135-8A6C773EB94F}"/>
              </a:ext>
            </a:extLst>
          </p:cNvPr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endParaRPr lang="ko-KR" altLang="en-US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58A7A2-2962-8A6A-365C-5333A893B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3360" y="2552699"/>
            <a:ext cx="4292821" cy="69123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C9196E2-57BA-E79C-BFC7-1A500757D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760" y="2572449"/>
            <a:ext cx="4159464" cy="68925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9831489-EF51-8DF8-9D13-92C09A08F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4675" y="2552696"/>
            <a:ext cx="4216617" cy="693207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0F478AD-3935-F525-43F4-E3D042892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6602" y="2592199"/>
            <a:ext cx="4140413" cy="689043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53A86C0-EC6B-38A7-DB7D-23E50B04EA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2045" y="2530810"/>
            <a:ext cx="4153113" cy="693207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4817424-F8AA-1AD3-5FEC-3080199493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4730" y="2572449"/>
            <a:ext cx="4178515" cy="68925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09C3AA8-0E78-6690-0ECB-9CA16B6B4D5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07156" y="2453644"/>
            <a:ext cx="3733800" cy="604265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55095181-69B9-8045-C752-97A2D7C436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166403" y="2508968"/>
            <a:ext cx="3835597" cy="679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23668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en-US" altLang="ko-KR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Clicker Game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기초 코드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Clicker Game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26843" y="2628900"/>
            <a:ext cx="13841757" cy="3705742"/>
          </a:xfrm>
          <a:prstGeom prst="rect">
            <a:avLst/>
          </a:prstGeom>
        </p:spPr>
      </p:pic>
      <p:sp>
        <p:nvSpPr>
          <p:cNvPr id="9" name="TextBox 6"/>
          <p:cNvSpPr txBox="1"/>
          <p:nvPr/>
        </p:nvSpPr>
        <p:spPr>
          <a:xfrm>
            <a:off x="1752600" y="6362700"/>
            <a:ext cx="9296400" cy="29718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생성자 기반 상태 관리</a:t>
            </a: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time, score, target 등 저장</a:t>
            </a:r>
          </a:p>
          <a:p>
            <a:pPr algn="l">
              <a:lnSpc>
                <a:spcPts val="3872"/>
              </a:lnSpc>
              <a:defRPr/>
            </a:pPr>
            <a:endParaRPr lang="en-US" altLang="ko-KR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update() 함수 </a:t>
            </a:r>
          </a:p>
          <a:p>
            <a:pPr algn="l">
              <a:lnSpc>
                <a:spcPts val="3872"/>
              </a:lnSpc>
              <a:defRPr/>
            </a:pP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객체 생성/삭제</a:t>
            </a:r>
          </a:p>
          <a:p>
            <a:pPr algn="l">
              <a:lnSpc>
                <a:spcPts val="3872"/>
              </a:lnSpc>
              <a:defRPr/>
            </a:pP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충돌(클릭 판정)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811000" y="5981700"/>
            <a:ext cx="3717590" cy="3220069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Code Upgrade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37358" y="2628900"/>
            <a:ext cx="6744641" cy="2191055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6"/>
          <p:cNvSpPr txBox="1"/>
          <p:nvPr/>
        </p:nvSpPr>
        <p:spPr>
          <a:xfrm>
            <a:off x="1676400" y="5448300"/>
            <a:ext cx="9296400" cy="3962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클릭 기반 게임 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&gt;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 웹에서의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Aim traing 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게임 개발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웹 에서의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3D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구현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시각 효과 업그레이드</a:t>
            </a:r>
          </a:p>
          <a:p>
            <a:pPr algn="l">
              <a:lnSpc>
                <a:spcPts val="3872"/>
              </a:lnSpc>
              <a:defRPr/>
            </a:pPr>
            <a:endParaRPr lang="en-US" altLang="ko-KR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게임성 확장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5791200" y="4686300"/>
            <a:ext cx="9296400" cy="9906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16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(Unity</a:t>
            </a:r>
            <a:r>
              <a:rPr lang="ko-KR" altLang="en-US" sz="16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기반의 대표적인 클릭 게임</a:t>
            </a:r>
            <a:r>
              <a:rPr lang="en-US" altLang="ko-KR" sz="16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)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Code Upgrade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76400" y="2809730"/>
            <a:ext cx="3057951" cy="1038369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6"/>
          <p:cNvSpPr txBox="1"/>
          <p:nvPr/>
        </p:nvSpPr>
        <p:spPr>
          <a:xfrm>
            <a:off x="1676400" y="4000500"/>
            <a:ext cx="9296400" cy="39624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바빌론 엔진 사용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카메라 설정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-3D 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맵 모델링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사운드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834417" y="2661626"/>
            <a:ext cx="10853383" cy="6672874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grpSp>
        <p:nvGrpSpPr>
          <p:cNvPr id="18" name="그룹 17"/>
          <p:cNvGrpSpPr/>
          <p:nvPr/>
        </p:nvGrpSpPr>
        <p:grpSpPr>
          <a:xfrm>
            <a:off x="1676400" y="7962900"/>
            <a:ext cx="1703294" cy="609600"/>
            <a:chOff x="1676400" y="4705289"/>
            <a:chExt cx="1703294" cy="609600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1676400" y="4705289"/>
              <a:ext cx="1257475" cy="438211"/>
            </a:xfrm>
            <a:prstGeom prst="rect">
              <a:avLst/>
            </a:prstGeom>
          </p:spPr>
        </p:pic>
        <p:pic>
          <p:nvPicPr>
            <p:cNvPr id="17" name="그림 16"/>
            <p:cNvPicPr>
              <a:picLocks noChangeAspect="1"/>
            </p:cNvPicPr>
            <p:nvPr/>
          </p:nvPicPr>
          <p:blipFill rotWithShape="1">
            <a:blip r:embed="rId5"/>
            <a:stretch>
              <a:fillRect/>
            </a:stretch>
          </p:blipFill>
          <p:spPr>
            <a:xfrm>
              <a:off x="1752600" y="5086289"/>
              <a:ext cx="1627094" cy="228600"/>
            </a:xfrm>
            <a:prstGeom prst="rect">
              <a:avLst/>
            </a:prstGeom>
          </p:spPr>
        </p:pic>
      </p:grp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676400" y="7496110"/>
            <a:ext cx="1495633" cy="466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Code Upgrade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76399" y="2628900"/>
            <a:ext cx="14754085" cy="678180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Code Upgrade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676400" y="2705100"/>
            <a:ext cx="3343741" cy="1933844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5105400" y="2705100"/>
            <a:ext cx="9144000" cy="582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총구 화염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,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탄피 배출</a:t>
            </a:r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676400" y="4762500"/>
            <a:ext cx="1219370" cy="93358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/>
          <p:cNvSpPr txBox="1"/>
          <p:nvPr/>
        </p:nvSpPr>
        <p:spPr>
          <a:xfrm>
            <a:off x="2895600" y="4852035"/>
            <a:ext cx="9144000" cy="582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조준선 </a:t>
            </a:r>
            <a:endParaRPr lang="ko-KR" altLang="en-US"/>
          </a:p>
        </p:txBody>
      </p:sp>
      <p:sp>
        <p:nvSpPr>
          <p:cNvPr id="15" name="TextBox 6"/>
          <p:cNvSpPr txBox="1"/>
          <p:nvPr/>
        </p:nvSpPr>
        <p:spPr>
          <a:xfrm>
            <a:off x="1676400" y="5829300"/>
            <a:ext cx="9296400" cy="14859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격발 시  총구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pitch 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회전 을 통해 반동 표현 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676400" y="6362700"/>
            <a:ext cx="4797380" cy="228600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17" name="TextBox 6"/>
          <p:cNvSpPr txBox="1"/>
          <p:nvPr/>
        </p:nvSpPr>
        <p:spPr>
          <a:xfrm>
            <a:off x="1676400" y="8801100"/>
            <a:ext cx="9296400" cy="14859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872"/>
              </a:lnSpc>
              <a:defRPr/>
            </a:pP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-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적중 시 사운드 </a:t>
            </a:r>
            <a:r>
              <a:rPr lang="en-US" altLang="ko-KR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&amp;</a:t>
            </a:r>
            <a:r>
              <a:rPr lang="ko-KR" altLang="en-US" sz="2100" b="1" spc="-16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피격 효과 생성으로 타격감 </a:t>
            </a: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  <a:p>
            <a:pPr algn="l">
              <a:lnSpc>
                <a:spcPts val="3872"/>
              </a:lnSpc>
              <a:defRPr/>
            </a:pPr>
            <a:endParaRPr lang="ko-KR" altLang="en-US" sz="2100" b="1" spc="-160">
              <a:solidFill>
                <a:srgbClr val="000000"/>
              </a:solidFill>
              <a:latin typeface="Nanum Square Bold"/>
              <a:ea typeface="Nanum Square Bold"/>
              <a:cs typeface="Nanum Square Bold"/>
              <a:sym typeface="Nanum Square Bold"/>
            </a:endParaRP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229600" y="3695700"/>
            <a:ext cx="3810000" cy="4179059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23668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en-US" altLang="ko-KR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Fishing Game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소스코드의 변화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219200" y="1556401"/>
            <a:ext cx="6679746" cy="64008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597975" y="1556401"/>
            <a:ext cx="7461947" cy="6400800"/>
          </a:xfrm>
          <a:prstGeom prst="rect">
            <a:avLst/>
          </a:prstGeom>
        </p:spPr>
      </p:pic>
      <p:sp>
        <p:nvSpPr>
          <p:cNvPr id="10" name="화살표: 오른쪽 9"/>
          <p:cNvSpPr/>
          <p:nvPr/>
        </p:nvSpPr>
        <p:spPr>
          <a:xfrm>
            <a:off x="8282639" y="4528202"/>
            <a:ext cx="990600" cy="45719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838200" y="959136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latin typeface="Heebo Bold"/>
                <a:ea typeface="Heebo Bold"/>
                <a:cs typeface="Heebo Bold"/>
                <a:sym typeface="Heebo Bold"/>
              </a:rPr>
              <a:t>기존 코드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375186" y="925475"/>
            <a:ext cx="5277121" cy="817922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93728" y="925475"/>
            <a:ext cx="5283472" cy="8179220"/>
          </a:xfrm>
          <a:prstGeom prst="rect">
            <a:avLst/>
          </a:prstGeom>
        </p:spPr>
      </p:pic>
      <p:sp>
        <p:nvSpPr>
          <p:cNvPr id="10" name="화살표: 왼쪽 9"/>
          <p:cNvSpPr/>
          <p:nvPr/>
        </p:nvSpPr>
        <p:spPr>
          <a:xfrm>
            <a:off x="8267700" y="3619500"/>
            <a:ext cx="914400" cy="533399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화살표: 왼쪽 10"/>
          <p:cNvSpPr/>
          <p:nvPr/>
        </p:nvSpPr>
        <p:spPr>
          <a:xfrm flipH="1">
            <a:off x="10210800" y="5219700"/>
            <a:ext cx="889161" cy="533396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372600" y="3707368"/>
            <a:ext cx="167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기본화면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301732"/>
            <a:ext cx="1676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클릭 후 화면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462300" y="1726601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중요 코드 </a:t>
            </a:r>
            <a:r>
              <a:rPr lang="ko-KR" altLang="en-US" sz="2100" b="1" dirty="0" err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바뀐점</a:t>
            </a:r>
            <a:endParaRPr lang="ko-KR" altLang="en-US" sz="2100" b="1" dirty="0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2448" y="2127265"/>
            <a:ext cx="71628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ko-KR" altLang="en-US" dirty="0"/>
              <a:t>코드에 미니게임을 </a:t>
            </a:r>
            <a:r>
              <a:rPr lang="en-US" altLang="ko-KR" dirty="0"/>
              <a:t>2</a:t>
            </a:r>
            <a:r>
              <a:rPr lang="ko-KR" altLang="en-US" dirty="0" err="1"/>
              <a:t>개추가</a:t>
            </a:r>
            <a:endParaRPr lang="ko-KR" altLang="en-US" dirty="0"/>
          </a:p>
          <a:p>
            <a:pPr marL="800100" lvl="1" indent="-342900">
              <a:buFont typeface="+mj-lt"/>
              <a:buAutoNum type="arabicPeriod"/>
              <a:defRPr/>
            </a:pPr>
            <a:r>
              <a:rPr lang="ko-KR" altLang="en-US" dirty="0"/>
              <a:t>찌를 </a:t>
            </a:r>
            <a:r>
              <a:rPr lang="ko-KR" altLang="en-US" dirty="0" err="1"/>
              <a:t>던질때</a:t>
            </a:r>
            <a:r>
              <a:rPr lang="ko-KR" altLang="en-US" dirty="0"/>
              <a:t> 미니게임 추가</a:t>
            </a:r>
            <a:r>
              <a:rPr lang="en-US" altLang="ko-KR" dirty="0"/>
              <a:t>(</a:t>
            </a:r>
            <a:r>
              <a:rPr lang="ko-KR" altLang="en-US" dirty="0" err="1"/>
              <a:t>언더테일</a:t>
            </a:r>
            <a:r>
              <a:rPr lang="ko-KR" altLang="en-US" dirty="0"/>
              <a:t> 참고</a:t>
            </a:r>
            <a:r>
              <a:rPr lang="en-US" altLang="ko-KR" dirty="0"/>
              <a:t>)</a:t>
            </a:r>
          </a:p>
          <a:p>
            <a:pPr marL="1257300" lvl="2" indent="-342900">
              <a:buFont typeface="Arial"/>
              <a:buChar char="•"/>
              <a:defRPr/>
            </a:pPr>
            <a:r>
              <a:rPr lang="ko-KR" altLang="en-US" dirty="0"/>
              <a:t>바 사이에 목표물이 </a:t>
            </a:r>
            <a:r>
              <a:rPr lang="ko-KR" altLang="en-US" dirty="0" err="1"/>
              <a:t>왔다갔다거리고</a:t>
            </a:r>
            <a:r>
              <a:rPr lang="ko-KR" altLang="en-US" dirty="0"/>
              <a:t> 스페이스바를 이용해 중앙을 </a:t>
            </a:r>
            <a:r>
              <a:rPr lang="ko-KR" altLang="en-US" dirty="0" err="1"/>
              <a:t>마추는</a:t>
            </a:r>
            <a:r>
              <a:rPr lang="ko-KR" altLang="en-US" dirty="0"/>
              <a:t> 게임</a:t>
            </a:r>
          </a:p>
          <a:p>
            <a:pPr marL="800100" lvl="1" indent="-342900">
              <a:buFont typeface="+mj-lt"/>
              <a:buAutoNum type="arabicPeriod"/>
              <a:defRPr/>
            </a:pPr>
            <a:r>
              <a:rPr lang="ko-KR" altLang="en-US" dirty="0"/>
              <a:t>물고기를 </a:t>
            </a:r>
            <a:r>
              <a:rPr lang="ko-KR" altLang="en-US" dirty="0" err="1"/>
              <a:t>낚을때</a:t>
            </a:r>
            <a:r>
              <a:rPr lang="ko-KR" altLang="en-US" dirty="0"/>
              <a:t> 미니게임 추가</a:t>
            </a:r>
            <a:r>
              <a:rPr lang="en-US" altLang="ko-KR" dirty="0"/>
              <a:t>(</a:t>
            </a:r>
            <a:r>
              <a:rPr lang="ko-KR" altLang="en-US" dirty="0" err="1"/>
              <a:t>스타듀밸리</a:t>
            </a:r>
            <a:r>
              <a:rPr lang="ko-KR" altLang="en-US" dirty="0"/>
              <a:t> 참고</a:t>
            </a:r>
            <a:r>
              <a:rPr lang="en-US" altLang="ko-KR" dirty="0"/>
              <a:t>)</a:t>
            </a:r>
          </a:p>
          <a:p>
            <a:pPr marL="1257300" lvl="2" indent="-342900">
              <a:buFont typeface="Arial"/>
              <a:buChar char="•"/>
              <a:defRPr/>
            </a:pPr>
            <a:r>
              <a:rPr lang="ko-KR" altLang="en-US" dirty="0"/>
              <a:t>움직이는 물고기를 마우스 </a:t>
            </a:r>
            <a:r>
              <a:rPr lang="ko-KR" altLang="en-US" dirty="0" err="1"/>
              <a:t>휠을</a:t>
            </a:r>
            <a:r>
              <a:rPr lang="ko-KR" altLang="en-US" dirty="0"/>
              <a:t> 통해 계속 </a:t>
            </a:r>
            <a:r>
              <a:rPr lang="ko-KR" altLang="en-US" dirty="0" err="1"/>
              <a:t>마추어</a:t>
            </a:r>
            <a:r>
              <a:rPr lang="ko-KR" altLang="en-US" dirty="0"/>
              <a:t> 게이지를 </a:t>
            </a:r>
            <a:r>
              <a:rPr lang="ko-KR" altLang="en-US" dirty="0" err="1"/>
              <a:t>누적시켜</a:t>
            </a:r>
            <a:r>
              <a:rPr lang="ko-KR" altLang="en-US" dirty="0"/>
              <a:t> 물고기를 낚음</a:t>
            </a:r>
          </a:p>
          <a:p>
            <a:pPr marL="1200150" lvl="2" indent="-285750">
              <a:buFont typeface="Arial"/>
              <a:buChar char="•"/>
              <a:defRPr/>
            </a:pPr>
            <a:endParaRPr lang="en-US" altLang="ko-KR" dirty="0"/>
          </a:p>
          <a:p>
            <a:pPr marL="1200150" lvl="2" indent="-285750">
              <a:buFont typeface="Arial"/>
              <a:buChar char="•"/>
              <a:defRPr/>
            </a:pPr>
            <a:endParaRPr lang="en-US" altLang="ko-KR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65978" y="1714500"/>
            <a:ext cx="1886047" cy="6096313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192000" y="1333500"/>
            <a:ext cx="5039616" cy="70710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57112" y="7169824"/>
            <a:ext cx="7162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ko-KR" altLang="en-US" dirty="0"/>
              <a:t>물고기의 상하 증폭 증가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물고기의 크기별 </a:t>
            </a:r>
            <a:r>
              <a:rPr lang="en-US" altLang="ko-KR" dirty="0"/>
              <a:t>‘</a:t>
            </a:r>
            <a:r>
              <a:rPr lang="ko-KR" altLang="en-US" dirty="0"/>
              <a:t>몸부림</a:t>
            </a:r>
            <a:r>
              <a:rPr lang="en-US" altLang="ko-KR" dirty="0"/>
              <a:t>’</a:t>
            </a:r>
            <a:r>
              <a:rPr lang="ko-KR" altLang="en-US" dirty="0"/>
              <a:t>의 강도가 </a:t>
            </a:r>
            <a:r>
              <a:rPr lang="ko-KR" altLang="en-US" dirty="0" err="1"/>
              <a:t>심해짐</a:t>
            </a:r>
            <a:r>
              <a:rPr lang="en-US" altLang="ko-KR" dirty="0"/>
              <a:t>(</a:t>
            </a:r>
            <a:r>
              <a:rPr lang="ko-KR" altLang="en-US" dirty="0"/>
              <a:t>진폭</a:t>
            </a:r>
            <a:r>
              <a:rPr lang="en-US" altLang="ko-KR" dirty="0"/>
              <a:t>, </a:t>
            </a:r>
            <a:r>
              <a:rPr lang="ko-KR" altLang="en-US" dirty="0"/>
              <a:t>주파수</a:t>
            </a:r>
            <a:r>
              <a:rPr lang="en-US" altLang="ko-KR" dirty="0"/>
              <a:t>, </a:t>
            </a:r>
            <a:r>
              <a:rPr lang="ko-KR" altLang="en-US" dirty="0" err="1"/>
              <a:t>버스트</a:t>
            </a:r>
            <a:r>
              <a:rPr lang="ko-KR" altLang="en-US" dirty="0"/>
              <a:t> 확률</a:t>
            </a:r>
            <a:r>
              <a:rPr lang="en-US" altLang="ko-KR" dirty="0"/>
              <a:t>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 dirty="0"/>
              <a:t>물고기의 단계와 나오는 물고기의 위치 확률 변경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수면</a:t>
            </a:r>
            <a:r>
              <a:rPr lang="en-US" altLang="ko-KR" dirty="0"/>
              <a:t>/</a:t>
            </a:r>
            <a:r>
              <a:rPr lang="ko-KR" altLang="en-US" dirty="0"/>
              <a:t>중앙</a:t>
            </a:r>
            <a:r>
              <a:rPr lang="en-US" altLang="ko-KR" dirty="0"/>
              <a:t>/</a:t>
            </a:r>
            <a:r>
              <a:rPr lang="ko-KR" altLang="en-US" dirty="0"/>
              <a:t>심해 구역</a:t>
            </a:r>
            <a:r>
              <a:rPr lang="en-US" altLang="ko-KR" dirty="0"/>
              <a:t>, </a:t>
            </a:r>
            <a:r>
              <a:rPr lang="ko-KR" altLang="en-US" dirty="0"/>
              <a:t>캐스팅 정확도에 따라 구역 결정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 dirty="0"/>
              <a:t>적절한 물고기 사진 적용</a:t>
            </a:r>
            <a:r>
              <a:rPr lang="en-US" altLang="ko-KR" dirty="0"/>
              <a:t>	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 dirty="0"/>
              <a:t>게임 색상 적용 및 </a:t>
            </a:r>
            <a:r>
              <a:rPr lang="en-US" altLang="ko-KR" dirty="0" err="1"/>
              <a:t>bgm</a:t>
            </a:r>
            <a:r>
              <a:rPr lang="en-US" altLang="ko-KR" dirty="0"/>
              <a:t>, </a:t>
            </a:r>
            <a:r>
              <a:rPr lang="ko-KR" altLang="en-US" dirty="0"/>
              <a:t>소리 적용</a:t>
            </a:r>
            <a:endParaRPr lang="en-US" altLang="ko-KR" dirty="0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845560" y="4516397"/>
            <a:ext cx="3577415" cy="154276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957466" y="4067114"/>
            <a:ext cx="2311519" cy="297830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44640" y="6099983"/>
            <a:ext cx="2446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언더테일의 미니게임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229203" y="4345911"/>
            <a:ext cx="461665" cy="2819400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>
            <a:pPr lvl="0">
              <a:defRPr/>
            </a:pPr>
            <a:r>
              <a:rPr lang="en-US" altLang="ko-KR"/>
              <a:t>(</a:t>
            </a:r>
            <a:r>
              <a:rPr lang="ko-KR" altLang="en-US"/>
              <a:t>스타듀밸리의 미니게임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444BFE7-2AA5-CE86-31AB-590C8564F205}"/>
              </a:ext>
            </a:extLst>
          </p:cNvPr>
          <p:cNvSpPr txBox="1"/>
          <p:nvPr/>
        </p:nvSpPr>
        <p:spPr>
          <a:xfrm>
            <a:off x="1331035" y="795950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524000" y="1988024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캐스팅 </a:t>
            </a:r>
            <a:r>
              <a:rPr lang="en-US" altLang="ko-KR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‘</a:t>
            </a: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타이밍바</a:t>
            </a:r>
            <a:r>
              <a:rPr lang="en-US" altLang="ko-KR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’</a:t>
            </a:r>
            <a:r>
              <a:rPr lang="ko-KR" altLang="en-US" sz="2100" b="1" dirty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 미니게임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15482" y="1123333"/>
            <a:ext cx="7436232" cy="321961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229600" y="5448300"/>
            <a:ext cx="9036514" cy="33021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2729811"/>
            <a:ext cx="64008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ko-KR" altLang="en-US" dirty="0"/>
              <a:t>시작 </a:t>
            </a:r>
            <a:r>
              <a:rPr lang="en-US" altLang="ko-KR" dirty="0"/>
              <a:t>: _</a:t>
            </a:r>
            <a:r>
              <a:rPr lang="en-US" altLang="ko-KR" dirty="0" err="1"/>
              <a:t>startCastTiming</a:t>
            </a:r>
            <a:r>
              <a:rPr lang="en-US" altLang="ko-KR" dirty="0"/>
              <a:t>()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수면 기준으로 타이밍 바의 위치</a:t>
            </a:r>
            <a:r>
              <a:rPr lang="en-US" altLang="ko-KR" dirty="0"/>
              <a:t>(y)</a:t>
            </a:r>
            <a:r>
              <a:rPr lang="ko-KR" altLang="en-US" dirty="0"/>
              <a:t>와 높이</a:t>
            </a:r>
            <a:r>
              <a:rPr lang="en-US" altLang="ko-KR" dirty="0"/>
              <a:t>(h)</a:t>
            </a:r>
            <a:r>
              <a:rPr lang="ko-KR" altLang="en-US" dirty="0"/>
              <a:t>를 계산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바의 중앙선</a:t>
            </a:r>
            <a:r>
              <a:rPr lang="en-US" altLang="ko-KR" dirty="0"/>
              <a:t>(</a:t>
            </a:r>
            <a:r>
              <a:rPr lang="en-US" altLang="ko-KR" dirty="0" err="1"/>
              <a:t>centerY</a:t>
            </a:r>
            <a:r>
              <a:rPr lang="en-US" altLang="ko-KR" dirty="0"/>
              <a:t>), </a:t>
            </a:r>
            <a:r>
              <a:rPr lang="ko-KR" altLang="en-US" dirty="0"/>
              <a:t>마커 초기 위치</a:t>
            </a:r>
            <a:r>
              <a:rPr lang="en-US" altLang="ko-KR" dirty="0"/>
              <a:t>(</a:t>
            </a:r>
            <a:r>
              <a:rPr lang="en-US" altLang="ko-KR" dirty="0" err="1"/>
              <a:t>markerY</a:t>
            </a:r>
            <a:r>
              <a:rPr lang="en-US" altLang="ko-KR" dirty="0"/>
              <a:t>), </a:t>
            </a:r>
            <a:r>
              <a:rPr lang="ko-KR" altLang="en-US" dirty="0"/>
              <a:t>이동 방향</a:t>
            </a:r>
            <a:r>
              <a:rPr lang="en-US" altLang="ko-KR" dirty="0"/>
              <a:t>(</a:t>
            </a:r>
            <a:r>
              <a:rPr lang="en-US" altLang="ko-KR" dirty="0" err="1"/>
              <a:t>dir</a:t>
            </a:r>
            <a:r>
              <a:rPr lang="en-US" altLang="ko-KR" dirty="0"/>
              <a:t>)</a:t>
            </a:r>
            <a:r>
              <a:rPr lang="ko-KR" altLang="en-US" dirty="0"/>
              <a:t>을 세팅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게임 상태를 </a:t>
            </a:r>
            <a:r>
              <a:rPr lang="en-US" altLang="ko-KR" dirty="0" err="1"/>
              <a:t>cast_timing</a:t>
            </a:r>
            <a:r>
              <a:rPr lang="ko-KR" altLang="en-US" dirty="0"/>
              <a:t>으로 바꿔 미니게임 진입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 dirty="0"/>
              <a:t>루프 </a:t>
            </a:r>
            <a:r>
              <a:rPr lang="en-US" altLang="ko-KR" dirty="0"/>
              <a:t>: state === '</a:t>
            </a:r>
            <a:r>
              <a:rPr lang="en-US" altLang="ko-KR" dirty="0" err="1"/>
              <a:t>cast_timing</a:t>
            </a:r>
            <a:r>
              <a:rPr lang="en-US" altLang="ko-KR" dirty="0"/>
              <a:t>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매 프레임 </a:t>
            </a:r>
            <a:r>
              <a:rPr lang="en-US" altLang="ko-KR" dirty="0" err="1"/>
              <a:t>markerY</a:t>
            </a:r>
            <a:r>
              <a:rPr lang="en-US" altLang="ko-KR" dirty="0"/>
              <a:t> += </a:t>
            </a:r>
            <a:r>
              <a:rPr lang="en-US" altLang="ko-KR" dirty="0" err="1"/>
              <a:t>dir</a:t>
            </a:r>
            <a:r>
              <a:rPr lang="en-US" altLang="ko-KR" dirty="0"/>
              <a:t> * speed * dt</a:t>
            </a:r>
            <a:r>
              <a:rPr lang="ko-KR" altLang="en-US" dirty="0"/>
              <a:t>로 마커를 위</a:t>
            </a:r>
            <a:r>
              <a:rPr lang="en-US" altLang="ko-KR" dirty="0"/>
              <a:t>/</a:t>
            </a:r>
            <a:r>
              <a:rPr lang="ko-KR" altLang="en-US" dirty="0"/>
              <a:t>아래로 이동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위아래 경계</a:t>
            </a:r>
            <a:r>
              <a:rPr lang="en-US" altLang="ko-KR" dirty="0"/>
              <a:t>(</a:t>
            </a:r>
            <a:r>
              <a:rPr lang="en-US" altLang="ko-KR" dirty="0" err="1"/>
              <a:t>yMin</a:t>
            </a:r>
            <a:r>
              <a:rPr lang="en-US" altLang="ko-KR" dirty="0"/>
              <a:t>, </a:t>
            </a:r>
            <a:r>
              <a:rPr lang="en-US" altLang="ko-KR" dirty="0" err="1"/>
              <a:t>yMax</a:t>
            </a:r>
            <a:r>
              <a:rPr lang="en-US" altLang="ko-KR" dirty="0"/>
              <a:t>)</a:t>
            </a:r>
            <a:r>
              <a:rPr lang="ko-KR" altLang="en-US" dirty="0"/>
              <a:t>에 닿으면 방향 반전해서 왕복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입력</a:t>
            </a:r>
            <a:r>
              <a:rPr lang="en-US" altLang="ko-KR" dirty="0"/>
              <a:t>(</a:t>
            </a:r>
            <a:r>
              <a:rPr lang="ko-KR" altLang="en-US" dirty="0"/>
              <a:t>스페이스</a:t>
            </a:r>
            <a:r>
              <a:rPr lang="en-US" altLang="ko-KR" dirty="0"/>
              <a:t>/</a:t>
            </a:r>
            <a:r>
              <a:rPr lang="ko-KR" altLang="en-US" dirty="0" err="1"/>
              <a:t>엔터</a:t>
            </a:r>
            <a:r>
              <a:rPr lang="en-US" altLang="ko-KR" dirty="0"/>
              <a:t>/</a:t>
            </a:r>
            <a:r>
              <a:rPr lang="ko-KR" altLang="en-US" dirty="0"/>
              <a:t>클릭</a:t>
            </a:r>
            <a:r>
              <a:rPr lang="en-US" altLang="ko-KR" dirty="0"/>
              <a:t>) </a:t>
            </a:r>
            <a:r>
              <a:rPr lang="ko-KR" altLang="en-US" dirty="0"/>
              <a:t>발생 시 확정 함수 호출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 dirty="0"/>
              <a:t>확정 </a:t>
            </a:r>
            <a:r>
              <a:rPr lang="en-US" altLang="ko-KR" dirty="0"/>
              <a:t>: _</a:t>
            </a:r>
            <a:r>
              <a:rPr lang="en-US" altLang="ko-KR" dirty="0" err="1"/>
              <a:t>confirmCastFromTiming</a:t>
            </a:r>
            <a:r>
              <a:rPr lang="en-US" altLang="ko-KR" dirty="0"/>
              <a:t>()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정확도 계산</a:t>
            </a:r>
            <a:r>
              <a:rPr lang="en-US" altLang="ko-KR" dirty="0"/>
              <a:t>: </a:t>
            </a:r>
            <a:r>
              <a:rPr lang="en-US" altLang="ko-KR" dirty="0" err="1"/>
              <a:t>dist</a:t>
            </a:r>
            <a:r>
              <a:rPr lang="en-US" altLang="ko-KR" dirty="0"/>
              <a:t> = |</a:t>
            </a:r>
            <a:r>
              <a:rPr lang="en-US" altLang="ko-KR" dirty="0" err="1"/>
              <a:t>markerY</a:t>
            </a:r>
            <a:r>
              <a:rPr lang="en-US" altLang="ko-KR" dirty="0"/>
              <a:t> - </a:t>
            </a:r>
            <a:r>
              <a:rPr lang="en-US" altLang="ko-KR" dirty="0" err="1"/>
              <a:t>centerY</a:t>
            </a:r>
            <a:r>
              <a:rPr lang="en-US" altLang="ko-KR" dirty="0"/>
              <a:t>|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깊이</a:t>
            </a:r>
            <a:r>
              <a:rPr lang="en-US" altLang="ko-KR" dirty="0"/>
              <a:t>·</a:t>
            </a:r>
            <a:r>
              <a:rPr lang="ko-KR" altLang="en-US" dirty="0"/>
              <a:t>구역 결정</a:t>
            </a:r>
          </a:p>
          <a:p>
            <a:pPr marL="1257300" lvl="2" indent="-342900">
              <a:buFont typeface="Arial"/>
              <a:buChar char="•"/>
              <a:defRPr/>
            </a:pPr>
            <a:r>
              <a:rPr lang="en-US" altLang="ko-KR" dirty="0"/>
              <a:t>depth = 1 - clamp(</a:t>
            </a:r>
            <a:r>
              <a:rPr lang="en-US" altLang="ko-KR" dirty="0" err="1"/>
              <a:t>dist</a:t>
            </a:r>
            <a:r>
              <a:rPr lang="en-US" altLang="ko-KR" dirty="0"/>
              <a:t>/0.5)</a:t>
            </a:r>
            <a:r>
              <a:rPr lang="ko-KR" altLang="en-US" dirty="0"/>
              <a:t> 같은 방식으로 </a:t>
            </a:r>
            <a:r>
              <a:rPr lang="en-US" altLang="ko-KR" dirty="0"/>
              <a:t>0~1 </a:t>
            </a:r>
            <a:r>
              <a:rPr lang="ko-KR" altLang="en-US" dirty="0"/>
              <a:t>스케일을 만들고</a:t>
            </a:r>
          </a:p>
          <a:p>
            <a:pPr marL="1257300" lvl="2" indent="-342900">
              <a:buFont typeface="Arial"/>
              <a:buChar char="•"/>
              <a:defRPr/>
            </a:pPr>
            <a:r>
              <a:rPr lang="en-US" altLang="ko-KR" dirty="0"/>
              <a:t>zone = surface / mid / deep</a:t>
            </a:r>
            <a:r>
              <a:rPr lang="ko-KR" altLang="en-US" dirty="0"/>
              <a:t>로 매핑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 dirty="0"/>
              <a:t>물고기 크기</a:t>
            </a:r>
            <a:r>
              <a:rPr lang="en-US" altLang="ko-KR" dirty="0"/>
              <a:t>/</a:t>
            </a:r>
            <a:r>
              <a:rPr lang="ko-KR" altLang="en-US" dirty="0"/>
              <a:t>확률 설정</a:t>
            </a:r>
            <a:r>
              <a:rPr lang="en-US" altLang="ko-KR" dirty="0"/>
              <a:t>: </a:t>
            </a:r>
            <a:r>
              <a:rPr lang="ko-KR" altLang="en-US" dirty="0"/>
              <a:t>정확도가 좋을수록 큰 물고기 비중이 높아짐</a:t>
            </a:r>
            <a:endParaRPr lang="en-US" altLang="ko-KR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5788F9C-AE7E-6989-1D21-F7FFB075635F}"/>
              </a:ext>
            </a:extLst>
          </p:cNvPr>
          <p:cNvSpPr txBox="1"/>
          <p:nvPr/>
        </p:nvSpPr>
        <p:spPr>
          <a:xfrm>
            <a:off x="1219200" y="806275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코드 업그레이드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31162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낚시 미니게임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551784" y="810212"/>
            <a:ext cx="7620000" cy="403511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534768" y="5143500"/>
            <a:ext cx="7801214" cy="4035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1638300"/>
            <a:ext cx="609600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진입</a:t>
            </a:r>
            <a:r>
              <a:rPr lang="en-US" altLang="ko-KR"/>
              <a:t>(</a:t>
            </a:r>
            <a:r>
              <a:rPr lang="ko-KR" altLang="en-US"/>
              <a:t>상태전환</a:t>
            </a:r>
            <a:r>
              <a:rPr lang="en-US" altLang="ko-KR"/>
              <a:t>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altLang="ko-KR"/>
              <a:t>cast_timing</a:t>
            </a:r>
            <a:r>
              <a:rPr lang="ko-KR" altLang="en-US"/>
              <a:t>에서 </a:t>
            </a:r>
            <a:r>
              <a:rPr lang="en-US" altLang="ko-KR"/>
              <a:t>_confirmCastFromTiming()</a:t>
            </a:r>
            <a:r>
              <a:rPr lang="ko-KR" altLang="en-US"/>
              <a:t>으로 </a:t>
            </a:r>
            <a:r>
              <a:rPr lang="en-US" altLang="ko-KR"/>
              <a:t>zone/depth/size</a:t>
            </a:r>
            <a:r>
              <a:rPr lang="ko-KR" altLang="en-US"/>
              <a:t>와 난이도 </a:t>
            </a:r>
            <a:r>
              <a:rPr lang="en-US" altLang="ko-KR"/>
              <a:t>cfg</a:t>
            </a:r>
            <a:r>
              <a:rPr lang="ko-KR" altLang="en-US"/>
              <a:t>를 생성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짧은 </a:t>
            </a:r>
            <a:r>
              <a:rPr lang="en-US" altLang="ko-KR"/>
              <a:t>wait </a:t>
            </a:r>
            <a:r>
              <a:rPr lang="ko-KR" altLang="en-US"/>
              <a:t>후 </a:t>
            </a:r>
            <a:r>
              <a:rPr lang="en-US" altLang="ko-KR"/>
              <a:t>this.state = 'minigame’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초기화</a:t>
            </a:r>
            <a:r>
              <a:rPr lang="en-US" altLang="ko-KR"/>
              <a:t>: this.fill=0~1, this.bar={y,v,h}, this.fish={y,t,profile}, this.timeSinceStart=0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입력 </a:t>
            </a:r>
            <a:r>
              <a:rPr lang="en-US" altLang="ko-KR"/>
              <a:t>&amp; </a:t>
            </a:r>
            <a:r>
              <a:rPr lang="ko-KR" altLang="en-US"/>
              <a:t>바 물리</a:t>
            </a:r>
            <a:r>
              <a:rPr lang="en-US" altLang="ko-KR"/>
              <a:t>(</a:t>
            </a:r>
            <a:r>
              <a:rPr lang="ko-KR" altLang="en-US"/>
              <a:t>휠 조작</a:t>
            </a:r>
            <a:r>
              <a:rPr lang="en-US" altLang="ko-KR"/>
              <a:t>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휠 아래</a:t>
            </a:r>
            <a:r>
              <a:rPr lang="en-US" altLang="ko-KR"/>
              <a:t>=</a:t>
            </a:r>
            <a:r>
              <a:rPr lang="ko-KR" altLang="en-US"/>
              <a:t>위로 </a:t>
            </a:r>
            <a:r>
              <a:rPr lang="en-US" altLang="ko-KR"/>
              <a:t>/ </a:t>
            </a:r>
            <a:r>
              <a:rPr lang="ko-KR" altLang="en-US"/>
              <a:t>휠 위</a:t>
            </a:r>
            <a:r>
              <a:rPr lang="en-US" altLang="ko-KR"/>
              <a:t>=</a:t>
            </a:r>
            <a:r>
              <a:rPr lang="ko-KR" altLang="en-US"/>
              <a:t>아래로</a:t>
            </a:r>
            <a:r>
              <a:rPr lang="en-US" altLang="ko-KR"/>
              <a:t>(</a:t>
            </a:r>
            <a:r>
              <a:rPr lang="ko-KR" altLang="en-US"/>
              <a:t>반전</a:t>
            </a:r>
            <a:r>
              <a:rPr lang="en-US" altLang="ko-KR"/>
              <a:t>) </a:t>
            </a:r>
            <a:r>
              <a:rPr lang="ko-KR" altLang="en-US"/>
              <a:t>가속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가속</a:t>
            </a:r>
            <a:r>
              <a:rPr lang="en-US" altLang="ko-KR"/>
              <a:t>·</a:t>
            </a:r>
            <a:r>
              <a:rPr lang="ko-KR" altLang="en-US"/>
              <a:t>속도제한</a:t>
            </a:r>
            <a:r>
              <a:rPr lang="en-US" altLang="ko-KR"/>
              <a:t>·</a:t>
            </a:r>
            <a:r>
              <a:rPr lang="ko-KR" altLang="en-US"/>
              <a:t>감속</a:t>
            </a:r>
            <a:r>
              <a:rPr lang="en-US" altLang="ko-KR"/>
              <a:t>·</a:t>
            </a:r>
            <a:r>
              <a:rPr lang="ko-KR" altLang="en-US"/>
              <a:t>경계처리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바의 높이</a:t>
            </a:r>
            <a:r>
              <a:rPr lang="en-US" altLang="ko-KR"/>
              <a:t>(</a:t>
            </a:r>
            <a:r>
              <a:rPr lang="ko-KR" altLang="en-US"/>
              <a:t>판정폭</a:t>
            </a:r>
            <a:r>
              <a:rPr lang="en-US" altLang="ko-KR"/>
              <a:t>) = this.bar.h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물고기 </a:t>
            </a:r>
            <a:r>
              <a:rPr lang="en-US" altLang="ko-KR"/>
              <a:t>AI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altLang="ko-KR"/>
              <a:t>const F = this.fish.profile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목표 궤적</a:t>
            </a:r>
            <a:r>
              <a:rPr lang="en-US" altLang="ko-KR"/>
              <a:t>: </a:t>
            </a:r>
            <a:r>
              <a:rPr lang="ko-KR" altLang="en-US"/>
              <a:t>사인파 </a:t>
            </a:r>
            <a:r>
              <a:rPr lang="en-US" altLang="ko-KR"/>
              <a:t>+ </a:t>
            </a:r>
            <a:r>
              <a:rPr lang="ko-KR" altLang="en-US"/>
              <a:t>지터 </a:t>
            </a:r>
            <a:r>
              <a:rPr lang="en-US" altLang="ko-KR"/>
              <a:t>+ </a:t>
            </a:r>
            <a:r>
              <a:rPr lang="ko-KR" altLang="en-US"/>
              <a:t>버스트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추종</a:t>
            </a:r>
            <a:r>
              <a:rPr lang="en-US" altLang="ko-KR"/>
              <a:t>(</a:t>
            </a:r>
            <a:r>
              <a:rPr lang="ko-KR" altLang="en-US"/>
              <a:t>부드럽게 따라감</a:t>
            </a:r>
            <a:r>
              <a:rPr lang="en-US" altLang="ko-KR"/>
              <a:t>): this.fish.y += (target - this.fish.y) * (F.follow * dt)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범위 고정</a:t>
            </a:r>
            <a:r>
              <a:rPr lang="en-US" altLang="ko-KR"/>
              <a:t>: ln.top..ln.bottom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겹침 판정 </a:t>
            </a:r>
            <a:r>
              <a:rPr lang="en-US" altLang="ko-KR"/>
              <a:t>&gt; </a:t>
            </a:r>
            <a:r>
              <a:rPr lang="ko-KR" altLang="en-US"/>
              <a:t>캐치 게이지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바 중앙</a:t>
            </a:r>
            <a:r>
              <a:rPr lang="en-US" altLang="ko-KR"/>
              <a:t>: barC = this.bar.y + this.bar.h/2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겹침 여부</a:t>
            </a:r>
            <a:r>
              <a:rPr lang="en-US" altLang="ko-KR"/>
              <a:t>: inside = |this.fish.y - barC| ≤ this.bar.h/2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누적</a:t>
            </a:r>
            <a:r>
              <a:rPr lang="en-US" altLang="ko-KR"/>
              <a:t>: this.fill = clamp(this.fill + delta*dt, 0, 1)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ko-KR" altLang="en-US"/>
              <a:t>성공</a:t>
            </a:r>
            <a:r>
              <a:rPr lang="en-US" altLang="ko-KR"/>
              <a:t>/</a:t>
            </a:r>
            <a:r>
              <a:rPr lang="ko-KR" altLang="en-US"/>
              <a:t>실패 판정</a:t>
            </a:r>
            <a:r>
              <a:rPr lang="en-US" altLang="ko-KR"/>
              <a:t>&amp;</a:t>
            </a:r>
            <a:r>
              <a:rPr lang="ko-KR" altLang="en-US"/>
              <a:t>점수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altLang="ko-KR"/>
              <a:t>this.fill ≥ 1 → this.state='caught’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en-US" altLang="ko-KR"/>
              <a:t>this.fill ≤ 0 → this.state='miss’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점수 가중</a:t>
            </a:r>
            <a:r>
              <a:rPr lang="en-US" altLang="ko-KR"/>
              <a:t>: </a:t>
            </a:r>
            <a:r>
              <a:rPr lang="ko-KR" altLang="en-US"/>
              <a:t>물고기 크기별 </a:t>
            </a:r>
            <a:r>
              <a:rPr lang="en-US" altLang="ko-KR"/>
              <a:t>small=1, mid=3, big=5</a:t>
            </a:r>
            <a:r>
              <a:rPr lang="ko-KR" altLang="en-US"/>
              <a:t> 추가</a:t>
            </a:r>
          </a:p>
          <a:p>
            <a:pPr marL="800100" lvl="1" indent="-342900">
              <a:buFont typeface="Arial"/>
              <a:buChar char="•"/>
              <a:defRPr/>
            </a:pPr>
            <a:r>
              <a:rPr lang="ko-KR" altLang="en-US"/>
              <a:t>단축키</a:t>
            </a:r>
            <a:r>
              <a:rPr lang="en-US" altLang="ko-KR"/>
              <a:t>: R</a:t>
            </a:r>
            <a:r>
              <a:rPr lang="ko-KR" altLang="en-US"/>
              <a:t>로 즉시 리셋</a:t>
            </a:r>
            <a:r>
              <a:rPr lang="en-US" altLang="ko-KR"/>
              <a:t>(</a:t>
            </a:r>
            <a:r>
              <a:rPr lang="ko-KR" altLang="en-US"/>
              <a:t>테스트용</a:t>
            </a:r>
            <a:r>
              <a:rPr lang="en-US" altLang="ko-KR"/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4078981" y="2366850"/>
            <a:ext cx="10130038" cy="102405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8064"/>
              </a:lnSpc>
              <a:defRPr/>
            </a:pPr>
            <a:r>
              <a:rPr lang="en-US" altLang="ko-KR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Runner Game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러너</a:t>
            </a:r>
            <a:r>
              <a:rPr lang="en-US" altLang="ko-KR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-</a:t>
            </a: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소스코드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Runner</a:t>
            </a:r>
            <a:endParaRPr lang="ko-KR" altLang="en-US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81678" y="777287"/>
            <a:ext cx="5829922" cy="8732425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9" name="TextBox 8"/>
          <p:cNvSpPr txBox="1"/>
          <p:nvPr/>
        </p:nvSpPr>
        <p:spPr>
          <a:xfrm>
            <a:off x="1676400" y="6743700"/>
            <a:ext cx="8915400" cy="1360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2100">
                <a:latin typeface="나눔스퀘어 Bold"/>
                <a:ea typeface="나눔스퀘어 Bold"/>
              </a:rPr>
              <a:t>1.</a:t>
            </a:r>
            <a:r>
              <a:rPr lang="ko-KR" altLang="en-US" sz="2100">
                <a:latin typeface="나눔스퀘어 Bold"/>
                <a:ea typeface="나눔스퀘어 Bold"/>
              </a:rPr>
              <a:t> 플레이어 기본 설정</a:t>
            </a:r>
          </a:p>
          <a:p>
            <a:pPr algn="ctr">
              <a:defRPr/>
            </a:pPr>
            <a:r>
              <a:rPr lang="en-US" altLang="ko-KR" sz="2100">
                <a:latin typeface="나눔스퀘어 Bold"/>
                <a:ea typeface="나눔스퀘어 Bold"/>
              </a:rPr>
              <a:t>2.</a:t>
            </a:r>
            <a:r>
              <a:rPr lang="ko-KR" altLang="en-US" sz="2100">
                <a:latin typeface="나눔스퀘어 Bold"/>
                <a:ea typeface="나눔스퀘어 Bold"/>
              </a:rPr>
              <a:t> 물리 엔진 요소</a:t>
            </a:r>
          </a:p>
          <a:p>
            <a:pPr algn="ctr">
              <a:defRPr/>
            </a:pPr>
            <a:r>
              <a:rPr lang="en-US" altLang="ko-KR" sz="2100">
                <a:latin typeface="나눔스퀘어 Bold"/>
                <a:ea typeface="나눔스퀘어 Bold"/>
              </a:rPr>
              <a:t>3.</a:t>
            </a:r>
            <a:r>
              <a:rPr lang="ko-KR" altLang="en-US" sz="2100">
                <a:latin typeface="나눔스퀘어 Bold"/>
                <a:ea typeface="나눔스퀘어 Bold"/>
              </a:rPr>
              <a:t> </a:t>
            </a:r>
            <a:r>
              <a:rPr lang="en-US" altLang="ko-KR" sz="2100">
                <a:latin typeface="나눔스퀘어 Bold"/>
                <a:ea typeface="나눔스퀘어 Bold"/>
              </a:rPr>
              <a:t>게임 상태 변수</a:t>
            </a:r>
          </a:p>
          <a:p>
            <a:pPr algn="ctr">
              <a:defRPr/>
            </a:pPr>
            <a:r>
              <a:rPr lang="en-US" altLang="ko-KR" sz="2100">
                <a:latin typeface="나눔스퀘어 Bold"/>
                <a:ea typeface="나눔스퀘어 Bold"/>
              </a:rPr>
              <a:t>4.</a:t>
            </a:r>
            <a:r>
              <a:rPr lang="ko-KR" altLang="en-US" sz="2100">
                <a:latin typeface="나눔스퀘어 Bold"/>
                <a:ea typeface="나눔스퀘어 Bold"/>
              </a:rPr>
              <a:t> 입력처리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2600" y="2868929"/>
            <a:ext cx="8915400" cy="720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100" b="0" i="0" u="none" strike="noStrike" kern="1200" cap="none" spc="0" normalizeH="0" baseline="0">
                <a:solidFill>
                  <a:srgbClr val="000000"/>
                </a:solidFill>
                <a:latin typeface="나눔스퀘어 Bold"/>
                <a:ea typeface="나눔스퀘어 Bold"/>
              </a:rPr>
              <a:t>미니게임에 들어갈 쿠키런 스타일의 러너 게임을 만들고 싶은데, </a:t>
            </a: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100" b="0" i="0" u="none" strike="noStrike" kern="1200" cap="none" spc="0" normalizeH="0" baseline="0">
                <a:solidFill>
                  <a:srgbClr val="000000"/>
                </a:solidFill>
                <a:latin typeface="나눔스퀘어 Bold"/>
                <a:ea typeface="나눔스퀘어 Bold"/>
              </a:rPr>
              <a:t>그 기반이 될 기초 소스코드를 작성해 주세요.</a:t>
            </a:r>
          </a:p>
        </p:txBody>
      </p:sp>
      <p:sp>
        <p:nvSpPr>
          <p:cNvPr id="13" name="화살표: 아래쪽 12"/>
          <p:cNvSpPr/>
          <p:nvPr/>
        </p:nvSpPr>
        <p:spPr>
          <a:xfrm>
            <a:off x="5257800" y="3810000"/>
            <a:ext cx="1828800" cy="26670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 defTabSz="914400" rtl="0" eaLnBrk="1" latinLnBrk="0" hangingPunct="1">
              <a:lnSpc>
                <a:spcPts val="8064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7200" b="1" i="0" u="none" strike="noStrike" kern="1200" cap="none" spc="-359" normalizeH="0" baseline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러너</a:t>
            </a:r>
            <a:r>
              <a:rPr kumimoji="0" lang="en-US" altLang="ko-KR" sz="7200" b="1" i="0" u="none" strike="noStrike" kern="1200" cap="none" spc="-359" normalizeH="0" baseline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-</a:t>
            </a:r>
            <a:r>
              <a:rPr kumimoji="0" lang="ko-KR" altLang="en-US" sz="7200" b="1" i="0" u="none" strike="noStrike" kern="1200" cap="none" spc="-359" normalizeH="0" baseline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 기획 </a:t>
            </a:r>
          </a:p>
        </p:txBody>
      </p:sp>
      <p:sp>
        <p:nvSpPr>
          <p:cNvPr id="9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indent="0" algn="l" defTabSz="914400" rtl="0" eaLnBrk="1" latinLnBrk="0" hangingPunct="1">
              <a:lnSpc>
                <a:spcPts val="2352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100" b="1" i="0" u="none" strike="noStrike" kern="1200" cap="none" spc="0" normalizeH="0" baseline="0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Runner</a:t>
            </a:r>
            <a:endParaRPr kumimoji="0" lang="ko-KR" altLang="en-US" sz="2100" b="1" i="0" u="none" strike="noStrike" kern="1200" cap="none" spc="0" normalizeH="0" baseline="0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248400" y="6438900"/>
            <a:ext cx="990600" cy="990600"/>
          </a:xfrm>
          <a:prstGeom prst="rect">
            <a:avLst/>
          </a:prstGeom>
        </p:spPr>
      </p:pic>
      <p:grpSp>
        <p:nvGrpSpPr>
          <p:cNvPr id="23" name="그룹 22"/>
          <p:cNvGrpSpPr/>
          <p:nvPr/>
        </p:nvGrpSpPr>
        <p:grpSpPr>
          <a:xfrm>
            <a:off x="1905000" y="2705100"/>
            <a:ext cx="8077200" cy="1350645"/>
            <a:chOff x="1905000" y="2705100"/>
            <a:chExt cx="8077200" cy="1350645"/>
          </a:xfrm>
        </p:grpSpPr>
        <p:sp>
          <p:nvSpPr>
            <p:cNvPr id="15" name="TextBox 14"/>
            <p:cNvSpPr txBox="1"/>
            <p:nvPr/>
          </p:nvSpPr>
          <p:spPr>
            <a:xfrm>
              <a:off x="1905000" y="3009900"/>
              <a:ext cx="8077200" cy="10458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99880" indent="-299880">
                <a:buClr>
                  <a:schemeClr val="tx1"/>
                </a:buClr>
                <a:buFont typeface="Wingdings"/>
                <a:buChar char="ü"/>
                <a:defRPr/>
              </a:pPr>
              <a:r>
                <a:rPr lang="ko-KR" altLang="en-US" sz="2100">
                  <a:latin typeface="나눔스퀘어 Bold"/>
                  <a:ea typeface="나눔스퀘어 Bold"/>
                </a:rPr>
                <a:t>진행 중에 부딛힐 장애물 필요</a:t>
              </a:r>
            </a:p>
            <a:p>
              <a:pPr marL="299880" indent="-299880">
                <a:buClr>
                  <a:schemeClr val="tx1"/>
                </a:buClr>
                <a:buFont typeface="Wingdings"/>
                <a:buChar char="ü"/>
                <a:defRPr/>
              </a:pPr>
              <a:r>
                <a:rPr lang="ko-KR" altLang="en-US" sz="2100">
                  <a:latin typeface="나눔스퀘어 Bold"/>
                  <a:ea typeface="나눔스퀘어 Bold"/>
                </a:rPr>
                <a:t>점프 뿐만 아니라 슬라이딩</a:t>
              </a:r>
              <a:r>
                <a:rPr lang="en-US" altLang="ko-KR" sz="2100">
                  <a:latin typeface="나눔스퀘어 Bold"/>
                  <a:ea typeface="나눔스퀘어 Bold"/>
                </a:rPr>
                <a:t>,</a:t>
              </a:r>
              <a:r>
                <a:rPr lang="ko-KR" altLang="en-US" sz="2100">
                  <a:latin typeface="나눔스퀘어 Bold"/>
                  <a:ea typeface="나눔스퀘어 Bold"/>
                </a:rPr>
                <a:t> 급강하 구현</a:t>
              </a:r>
            </a:p>
            <a:p>
              <a:pPr marL="299880" indent="-299880">
                <a:buClr>
                  <a:schemeClr val="tx1"/>
                </a:buClr>
                <a:buFont typeface="Wingdings"/>
                <a:buChar char="ü"/>
                <a:defRPr/>
              </a:pPr>
              <a:r>
                <a:rPr lang="ko-KR" altLang="en-US" sz="2100">
                  <a:latin typeface="나눔스퀘어 Bold"/>
                  <a:ea typeface="나눔스퀘어 Bold"/>
                </a:rPr>
                <a:t>주인공</a:t>
              </a:r>
              <a:r>
                <a:rPr lang="en-US" altLang="ko-KR" sz="2100">
                  <a:latin typeface="나눔스퀘어 Bold"/>
                  <a:ea typeface="나눔스퀘어 Bold"/>
                </a:rPr>
                <a:t>/</a:t>
              </a:r>
              <a:r>
                <a:rPr lang="ko-KR" altLang="en-US" sz="2100">
                  <a:latin typeface="나눔스퀘어 Bold"/>
                  <a:ea typeface="나눔스퀘어 Bold"/>
                </a:rPr>
                <a:t>장애물</a:t>
              </a:r>
              <a:r>
                <a:rPr lang="en-US" altLang="ko-KR" sz="2100">
                  <a:latin typeface="나눔스퀘어 Bold"/>
                  <a:ea typeface="나눔스퀘어 Bold"/>
                </a:rPr>
                <a:t>/</a:t>
              </a:r>
              <a:r>
                <a:rPr lang="ko-KR" altLang="en-US" sz="2100">
                  <a:latin typeface="나눔스퀘어 Bold"/>
                  <a:ea typeface="나눔스퀘어 Bold"/>
                </a:rPr>
                <a:t>배경 이미지</a:t>
              </a:r>
              <a:r>
                <a:rPr lang="en-US" altLang="ko-KR" sz="2100">
                  <a:latin typeface="나눔스퀘어 Bold"/>
                  <a:ea typeface="나눔스퀘어 Bold"/>
                </a:rPr>
                <a:t>,</a:t>
              </a:r>
              <a:r>
                <a:rPr lang="ko-KR" altLang="en-US" sz="2100">
                  <a:latin typeface="나눔스퀘어 Bold"/>
                  <a:ea typeface="나눔스퀘어 Bold"/>
                </a:rPr>
                <a:t> 배경음악</a:t>
              </a:r>
              <a:r>
                <a:rPr lang="en-US" altLang="ko-KR" sz="2100">
                  <a:latin typeface="나눔스퀘어 Bold"/>
                  <a:ea typeface="나눔스퀘어 Bold"/>
                </a:rPr>
                <a:t>,</a:t>
              </a:r>
              <a:r>
                <a:rPr lang="ko-KR" altLang="en-US" sz="2100">
                  <a:latin typeface="나눔스퀘어 Bold"/>
                  <a:ea typeface="나눔스퀘어 Bold"/>
                </a:rPr>
                <a:t> 효과음 필요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905000" y="2705100"/>
              <a:ext cx="1143000" cy="367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>
                  <a:latin typeface="하늘보리체"/>
                  <a:ea typeface="하늘보리체"/>
                </a:rPr>
                <a:t>초반</a:t>
              </a:r>
            </a:p>
          </p:txBody>
        </p:sp>
        <p:cxnSp>
          <p:nvCxnSpPr>
            <p:cNvPr id="22" name="직선 연결선 21"/>
            <p:cNvCxnSpPr/>
            <p:nvPr/>
          </p:nvCxnSpPr>
          <p:spPr>
            <a:xfrm>
              <a:off x="2438400" y="2857500"/>
              <a:ext cx="5203325" cy="0"/>
            </a:xfrm>
            <a:prstGeom prst="line">
              <a:avLst/>
            </a:prstGeom>
            <a:ln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1905000" y="4152900"/>
            <a:ext cx="8077200" cy="1664970"/>
            <a:chOff x="1905000" y="2705100"/>
            <a:chExt cx="8077200" cy="1664970"/>
          </a:xfrm>
        </p:grpSpPr>
        <p:sp>
          <p:nvSpPr>
            <p:cNvPr id="25" name="TextBox 24"/>
            <p:cNvSpPr txBox="1"/>
            <p:nvPr/>
          </p:nvSpPr>
          <p:spPr>
            <a:xfrm>
              <a:off x="1905000" y="3009900"/>
              <a:ext cx="8077200" cy="13601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점수 대신 레벨업 시스템 구현</a:t>
              </a:r>
            </a:p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추가 장애물 미사일과 러너 속도 점진적 증가 </a:t>
              </a:r>
            </a:p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배경 이미지가 움직이지 않는걸 방지하기 위해 반복되는 이미지로 교체</a:t>
              </a:r>
            </a:p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목숨 </a:t>
              </a:r>
              <a:r>
                <a:rPr kumimoji="0" lang="en-US" altLang="ko-KR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3</a:t>
              </a: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개 구현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05000" y="2705100"/>
              <a:ext cx="1143000" cy="367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0000"/>
                  </a:solidFill>
                  <a:latin typeface="하늘보리체"/>
                  <a:ea typeface="하늘보리체"/>
                </a:rPr>
                <a:t>중반</a:t>
              </a:r>
            </a:p>
          </p:txBody>
        </p:sp>
        <p:cxnSp>
          <p:nvCxnSpPr>
            <p:cNvPr id="27" name="직선 연결선 26"/>
            <p:cNvCxnSpPr/>
            <p:nvPr/>
          </p:nvCxnSpPr>
          <p:spPr>
            <a:xfrm>
              <a:off x="2438400" y="2857500"/>
              <a:ext cx="5203325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</p:cxnSp>
      </p:grp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778790" y="1943100"/>
            <a:ext cx="1651210" cy="2895600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pic>
        <p:nvPicPr>
          <p:cNvPr id="33" name="그림 3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658600" y="1595526"/>
            <a:ext cx="4572000" cy="7095949"/>
          </a:xfrm>
          <a:prstGeom prst="rect">
            <a:avLst/>
          </a:prstGeom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grpSp>
        <p:nvGrpSpPr>
          <p:cNvPr id="34" name="그룹 33"/>
          <p:cNvGrpSpPr/>
          <p:nvPr/>
        </p:nvGrpSpPr>
        <p:grpSpPr>
          <a:xfrm>
            <a:off x="1904999" y="6099810"/>
            <a:ext cx="8077200" cy="1024890"/>
            <a:chOff x="1905000" y="2705100"/>
            <a:chExt cx="8077200" cy="1024890"/>
          </a:xfrm>
        </p:grpSpPr>
        <p:sp>
          <p:nvSpPr>
            <p:cNvPr id="35" name="TextBox 34"/>
            <p:cNvSpPr txBox="1"/>
            <p:nvPr/>
          </p:nvSpPr>
          <p:spPr>
            <a:xfrm>
              <a:off x="1905000" y="3009900"/>
              <a:ext cx="8077200" cy="7200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카드를 고른 후 카운트 다운 적용</a:t>
              </a:r>
            </a:p>
            <a:p>
              <a:pPr marL="299880" indent="-29988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>
                  <a:schemeClr val="tx1"/>
                </a:buClr>
                <a:buFont typeface="Wingdings"/>
                <a:buChar char="ü"/>
                <a:defRPr/>
              </a:pPr>
              <a:r>
                <a:rPr kumimoji="0" lang="ko-KR" altLang="en-US" sz="2100" b="0" i="0" u="none" strike="noStrike" kern="1200" cap="none" spc="0" normalizeH="0" baseline="0">
                  <a:solidFill>
                    <a:srgbClr val="000000"/>
                  </a:solidFill>
                  <a:latin typeface="나눔스퀘어 Bold"/>
                  <a:ea typeface="나눔스퀘어 Bold"/>
                </a:rPr>
                <a:t>버그픽스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905000" y="2705100"/>
              <a:ext cx="1143000" cy="3581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indent="0" algn="l" defTabSz="914400" rtl="0" eaLnBrk="1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None/>
                <a:defRPr/>
              </a:pPr>
              <a:r>
                <a:rPr kumimoji="0" lang="ko-KR" altLang="en-US" sz="1800" b="0" i="0" u="none" strike="noStrike" kern="1200" cap="none" spc="0" normalizeH="0" baseline="0">
                  <a:solidFill>
                    <a:srgbClr val="000000"/>
                  </a:solidFill>
                  <a:latin typeface="하늘보리체"/>
                  <a:ea typeface="하늘보리체"/>
                </a:rPr>
                <a:t>후반</a:t>
              </a:r>
            </a:p>
          </p:txBody>
        </p:sp>
        <p:cxnSp>
          <p:nvCxnSpPr>
            <p:cNvPr id="37" name="직선 연결선 36"/>
            <p:cNvCxnSpPr/>
            <p:nvPr/>
          </p:nvCxnSpPr>
          <p:spPr>
            <a:xfrm>
              <a:off x="2438400" y="2857500"/>
              <a:ext cx="5203325" cy="0"/>
            </a:xfrm>
            <a:prstGeom prst="line">
              <a:avLst/>
            </a:prstGeom>
            <a:noFill/>
            <a:ln w="9525" cap="flat" cmpd="sng" algn="ctr">
              <a:solidFill>
                <a:srgbClr val="000000">
                  <a:alpha val="100000"/>
                </a:srgbClr>
              </a:solidFill>
              <a:prstDash val="solid"/>
            </a:ln>
          </p:spPr>
        </p:cxnSp>
      </p:grpSp>
      <p:cxnSp>
        <p:nvCxnSpPr>
          <p:cNvPr id="41" name="연결선: 구부러짐 40"/>
          <p:cNvCxnSpPr>
            <a:endCxn id="28" idx="2"/>
          </p:cNvCxnSpPr>
          <p:nvPr/>
        </p:nvCxnSpPr>
        <p:spPr>
          <a:xfrm flipV="1">
            <a:off x="9982200" y="4838700"/>
            <a:ext cx="622195" cy="609600"/>
          </a:xfrm>
          <a:prstGeom prst="curvedConnector2">
            <a:avLst/>
          </a:prstGeom>
          <a:ln>
            <a:solidFill>
              <a:schemeClr val="dk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9532620" y="1322070"/>
            <a:ext cx="2049780" cy="6210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800" b="0" i="0" strike="noStrike">
                <a:solidFill>
                  <a:srgbClr val="000000">
                    <a:alpha val="100000"/>
                  </a:srgbClr>
                </a:solidFill>
                <a:latin typeface="하늘보리체"/>
                <a:ea typeface="하늘보리체"/>
              </a:rPr>
              <a:t> </a:t>
            </a:r>
            <a:r>
              <a:rPr lang="en-US" altLang="ko-KR" sz="1700" b="0" i="0" strike="noStrike">
                <a:solidFill>
                  <a:srgbClr val="000000">
                    <a:alpha val="100000"/>
                  </a:srgbClr>
                </a:solidFill>
                <a:latin typeface="하늘보리체"/>
                <a:ea typeface="하늘보리체"/>
              </a:rPr>
              <a:t>FlappyBird</a:t>
            </a:r>
            <a:r>
              <a:rPr lang="ko-KR" altLang="en-US" sz="1700" b="0" i="0" strike="noStrike">
                <a:solidFill>
                  <a:srgbClr val="000000">
                    <a:alpha val="100000"/>
                  </a:srgbClr>
                </a:solidFill>
                <a:latin typeface="하늘보리체"/>
                <a:ea typeface="하늘보리체"/>
              </a:rPr>
              <a:t>에서 영감을 받음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/>
          <p:cNvSpPr txBox="1"/>
          <p:nvPr/>
        </p:nvSpPr>
        <p:spPr>
          <a:xfrm>
            <a:off x="1635693" y="1428583"/>
            <a:ext cx="8014955" cy="10193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챌린지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r>
              <a:rPr lang="en-US" altLang="ko-KR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C</a:t>
            </a:r>
            <a:r>
              <a:rPr lang="ko-KR" altLang="en-US" sz="2100" b="1">
                <a:solidFill>
                  <a:srgbClr val="737373"/>
                </a:solidFill>
                <a:latin typeface="Heebo Bold"/>
                <a:ea typeface="Heebo Bold"/>
                <a:cs typeface="Heebo Bold"/>
                <a:sym typeface="Heebo Bold"/>
              </a:rPr>
              <a:t>hallenge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608699" y="1219200"/>
            <a:ext cx="6926701" cy="784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752600" y="2868929"/>
            <a:ext cx="7620000" cy="720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2100" b="0" i="0" u="none" strike="noStrike" kern="1200" cap="none" spc="0" normalizeH="0" baseline="0">
                <a:solidFill>
                  <a:srgbClr val="000000"/>
                </a:solidFill>
                <a:latin typeface="나눔스퀘어 Bold"/>
                <a:ea typeface="나눔스퀘어 Bold"/>
              </a:rPr>
              <a:t>3</a:t>
            </a:r>
            <a:r>
              <a:rPr kumimoji="0" lang="ko-KR" altLang="en-US" sz="2100" b="0" i="0" u="none" strike="noStrike" kern="1200" cap="none" spc="0" normalizeH="0" baseline="0">
                <a:solidFill>
                  <a:srgbClr val="000000"/>
                </a:solidFill>
                <a:latin typeface="나눔스퀘어 Bold"/>
                <a:ea typeface="나눔스퀘어 Bold"/>
              </a:rPr>
              <a:t>개의 게임을 병합한 메인 게임</a:t>
            </a:r>
          </a:p>
          <a:p>
            <a: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2100" b="0" i="0" u="none" strike="noStrike" kern="1200" cap="none" spc="0" normalizeH="0" baseline="0">
              <a:solidFill>
                <a:srgbClr val="000000"/>
              </a:solidFill>
              <a:latin typeface="나눔스퀘어 Bold"/>
              <a:ea typeface="나눔스퀘어 Bold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0" y="5143500"/>
            <a:ext cx="0" cy="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296400" y="5295900"/>
            <a:ext cx="0" cy="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448800" y="5448300"/>
            <a:ext cx="0" cy="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124200" y="3619500"/>
            <a:ext cx="6220275" cy="3048000"/>
          </a:xfrm>
          <a:prstGeom prst="rect">
            <a:avLst/>
          </a:prstGeom>
          <a:solidFill>
            <a:schemeClr val="dk1"/>
          </a:solidFill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066800" y="3861847"/>
            <a:ext cx="2954957" cy="4482052"/>
          </a:xfrm>
          <a:prstGeom prst="rect">
            <a:avLst/>
          </a:prstGeom>
          <a:solidFill>
            <a:schemeClr val="lt1"/>
          </a:solidFill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3581400" y="5829300"/>
            <a:ext cx="2209800" cy="3429708"/>
          </a:xfrm>
          <a:prstGeom prst="rect">
            <a:avLst/>
          </a:prstGeom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5F77B-4894-FE2F-8D1D-3021070F5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50A9F34-41A9-2A15-D6EB-C8DC2DCF4E15}"/>
              </a:ext>
            </a:extLst>
          </p:cNvPr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7399F8B-8205-1B22-DB4F-10154E358719}"/>
              </a:ext>
            </a:extLst>
          </p:cNvPr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67108A8-9066-36F6-06E5-D090E2A8D6F5}"/>
              </a:ext>
            </a:extLst>
          </p:cNvPr>
          <p:cNvSpPr txBox="1"/>
          <p:nvPr/>
        </p:nvSpPr>
        <p:spPr>
          <a:xfrm>
            <a:off x="1635693" y="1428583"/>
            <a:ext cx="8014955" cy="103874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레퍼런스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972E1E7-5053-0583-2F06-21CD84690137}"/>
              </a:ext>
            </a:extLst>
          </p:cNvPr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endParaRPr lang="ko-KR" altLang="en-US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18334-4F01-2B0C-FDFB-AE8CFAC6153A}"/>
              </a:ext>
            </a:extLst>
          </p:cNvPr>
          <p:cNvSpPr txBox="1"/>
          <p:nvPr/>
        </p:nvSpPr>
        <p:spPr>
          <a:xfrm>
            <a:off x="1634953" y="4045196"/>
            <a:ext cx="10896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000" dirty="0"/>
              <a:t>clupartkorea.com</a:t>
            </a:r>
          </a:p>
          <a:p>
            <a:r>
              <a:rPr lang="en-US" altLang="ko-KR" sz="4000" dirty="0"/>
              <a:t>Sellbutmusic.com </a:t>
            </a:r>
          </a:p>
          <a:p>
            <a:r>
              <a:rPr lang="en-US" altLang="ko-KR" sz="4000" dirty="0"/>
              <a:t>https://pixabay.com/</a:t>
            </a:r>
          </a:p>
          <a:p>
            <a:r>
              <a:rPr lang="en-US" altLang="ko-KR" sz="4000" dirty="0">
                <a:hlinkClick r:id="rId2"/>
              </a:rPr>
              <a:t>https://chatgpt.com/</a:t>
            </a:r>
            <a:endParaRPr lang="en-US" altLang="ko-KR" sz="4000" dirty="0"/>
          </a:p>
          <a:p>
            <a:r>
              <a:rPr lang="en-US" altLang="ko-KR" sz="4000" dirty="0"/>
              <a:t>https://copilot.microsoft.com/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04783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7FD2-1893-AF1B-72D7-C6F4CC312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ABF0078-4864-4ABE-3160-5B1E4A973D15}"/>
              </a:ext>
            </a:extLst>
          </p:cNvPr>
          <p:cNvSpPr/>
          <p:nvPr/>
        </p:nvSpPr>
        <p:spPr>
          <a:xfrm>
            <a:off x="1635693" y="632336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74300F1E-19C3-1E4E-F439-160477D8416F}"/>
              </a:ext>
            </a:extLst>
          </p:cNvPr>
          <p:cNvSpPr/>
          <p:nvPr/>
        </p:nvSpPr>
        <p:spPr>
          <a:xfrm>
            <a:off x="1635693" y="9654664"/>
            <a:ext cx="1501661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  <p:txBody>
          <a:bodyPr wrap="squar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8A9FF1B-6B29-5BE4-B7D2-D1DEA81C8A8C}"/>
              </a:ext>
            </a:extLst>
          </p:cNvPr>
          <p:cNvSpPr txBox="1"/>
          <p:nvPr/>
        </p:nvSpPr>
        <p:spPr>
          <a:xfrm>
            <a:off x="1635693" y="1428583"/>
            <a:ext cx="8014955" cy="103874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8064"/>
              </a:lnSpc>
              <a:defRPr/>
            </a:pPr>
            <a:r>
              <a:rPr lang="ko-KR" altLang="en-US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점수 </a:t>
            </a:r>
            <a:r>
              <a:rPr lang="en-US" altLang="ko-KR" sz="7200" b="1" spc="-359" dirty="0">
                <a:solidFill>
                  <a:srgbClr val="000000"/>
                </a:solidFill>
                <a:latin typeface="Nanum Square Bold"/>
                <a:ea typeface="Nanum Square Bold"/>
                <a:cs typeface="Nanum Square Bold"/>
                <a:sym typeface="Nanum Square Bold"/>
              </a:rPr>
              <a:t>: 7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35DD4BE-99A5-4259-07E2-0C468474E200}"/>
              </a:ext>
            </a:extLst>
          </p:cNvPr>
          <p:cNvSpPr txBox="1"/>
          <p:nvPr/>
        </p:nvSpPr>
        <p:spPr>
          <a:xfrm>
            <a:off x="1714824" y="1121483"/>
            <a:ext cx="4211394" cy="29774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2352"/>
              </a:lnSpc>
              <a:defRPr/>
            </a:pPr>
            <a:endParaRPr lang="ko-KR" altLang="en-US" sz="2100" b="1">
              <a:solidFill>
                <a:srgbClr val="737373"/>
              </a:solidFill>
              <a:latin typeface="Heebo Bold"/>
              <a:ea typeface="Heebo Bold"/>
              <a:cs typeface="Heebo Bold"/>
              <a:sym typeface="Heebo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3B4641-BA7E-21DF-CF9C-987C8B1E0D1F}"/>
              </a:ext>
            </a:extLst>
          </p:cNvPr>
          <p:cNvSpPr txBox="1"/>
          <p:nvPr/>
        </p:nvSpPr>
        <p:spPr>
          <a:xfrm>
            <a:off x="1828800" y="3238500"/>
            <a:ext cx="14325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/>
              <a:t>사유 </a:t>
            </a:r>
            <a:r>
              <a:rPr lang="en-US" altLang="ko-KR" sz="3600" dirty="0"/>
              <a:t>: </a:t>
            </a:r>
            <a:r>
              <a:rPr lang="ko-KR" altLang="en-US" sz="3600" dirty="0"/>
              <a:t>업그레이드가 중점인 과제인 만큼</a:t>
            </a:r>
            <a:r>
              <a:rPr lang="en-US" altLang="ko-KR" sz="3600" dirty="0"/>
              <a:t> </a:t>
            </a:r>
            <a:r>
              <a:rPr lang="ko-KR" altLang="en-US" sz="3600" dirty="0"/>
              <a:t>기초 소스에서 </a:t>
            </a:r>
            <a:r>
              <a:rPr lang="en-US" altLang="ko-KR" sz="3600" dirty="0"/>
              <a:t>	 	</a:t>
            </a:r>
            <a:r>
              <a:rPr lang="ko-KR" altLang="en-US" sz="3600" dirty="0"/>
              <a:t>업그레이드를 충실히 이행했고</a:t>
            </a:r>
            <a:r>
              <a:rPr lang="en-US" altLang="ko-KR" sz="3600" dirty="0"/>
              <a:t> </a:t>
            </a:r>
            <a:r>
              <a:rPr lang="ko-KR" altLang="en-US" sz="3600" dirty="0"/>
              <a:t>처음에 만들고자 한 의도에서 </a:t>
            </a:r>
            <a:r>
              <a:rPr lang="en-US" altLang="ko-KR" sz="3600" dirty="0"/>
              <a:t>	</a:t>
            </a:r>
            <a:r>
              <a:rPr lang="ko-KR" altLang="en-US" sz="3600" dirty="0"/>
              <a:t>벗어나지 않고</a:t>
            </a:r>
            <a:r>
              <a:rPr lang="en-US" altLang="ko-KR" sz="3600" dirty="0"/>
              <a:t> </a:t>
            </a:r>
            <a:r>
              <a:rPr lang="ko-KR" altLang="en-US" sz="3600" dirty="0"/>
              <a:t>제대로 만들었기 때문에 </a:t>
            </a:r>
            <a:r>
              <a:rPr lang="en-US" altLang="ko-KR" sz="3600" dirty="0"/>
              <a:t>7</a:t>
            </a:r>
            <a:r>
              <a:rPr lang="ko-KR" altLang="en-US" sz="3600" dirty="0"/>
              <a:t>점을 생각합니다</a:t>
            </a:r>
            <a:r>
              <a:rPr lang="en-US" altLang="ko-KR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373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916</Words>
  <Application>Microsoft Office PowerPoint</Application>
  <PresentationFormat>사용자 지정</PresentationFormat>
  <Paragraphs>161</Paragraphs>
  <Slides>23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3" baseType="lpstr">
      <vt:lpstr>Nanum Square</vt:lpstr>
      <vt:lpstr>Nanum Square Bold</vt:lpstr>
      <vt:lpstr>나눔스퀘어 Bold</vt:lpstr>
      <vt:lpstr>배달의민족 한나체 Pro</vt:lpstr>
      <vt:lpstr>하늘보리체</vt:lpstr>
      <vt:lpstr>Arial</vt:lpstr>
      <vt:lpstr>Calibri</vt:lpstr>
      <vt:lpstr>Heebo Bold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검정색 단순 심플한 그룹 과제 프레젠테이션</dc:title>
  <dc:creator>박상희</dc:creator>
  <cp:lastModifiedBy>SangHee Park</cp:lastModifiedBy>
  <cp:revision>282</cp:revision>
  <dcterms:created xsi:type="dcterms:W3CDTF">2006-08-16T00:00:00Z</dcterms:created>
  <dcterms:modified xsi:type="dcterms:W3CDTF">2025-11-07T01:49:09Z</dcterms:modified>
  <cp:version/>
</cp:coreProperties>
</file>